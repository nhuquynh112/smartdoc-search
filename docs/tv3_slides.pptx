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8b6ec55ae794c2e" /><Relationship Type="http://schemas.openxmlformats.org/officeDocument/2006/relationships/extended-properties" Target="/docProps/app.xml" Id="R47a0c7b923f24936" /><Relationship Type="http://schemas.openxmlformats.org/officeDocument/2006/relationships/officeDocument" Target="/ppt/presentation.xml" Id="R98a6e1814c6348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041378def9f40e6"/>
  </p:sldMasterIdLst>
  <p:notesMasterIdLst>
    <p:notesMasterId xmlns:r="http://schemas.openxmlformats.org/officeDocument/2006/relationships" r:id="R030e20778cc94943"/>
  </p:notesMasterIdLst>
  <p:sldIdLst>
    <p:sldId xmlns:r="http://schemas.openxmlformats.org/officeDocument/2006/relationships" id="256" r:id="Rda6f5a5cc7a249d4"/>
    <p:sldId xmlns:r="http://schemas.openxmlformats.org/officeDocument/2006/relationships" id="257" r:id="R88bf81f800d54dc2"/>
    <p:sldId xmlns:r="http://schemas.openxmlformats.org/officeDocument/2006/relationships" id="258" r:id="R1e8a79a274344221"/>
    <p:sldId xmlns:r="http://schemas.openxmlformats.org/officeDocument/2006/relationships" id="259" r:id="Rfe8b96d743814a3e"/>
    <p:sldId xmlns:r="http://schemas.openxmlformats.org/officeDocument/2006/relationships" id="260" r:id="R90aa6cd7d9a44672"/>
    <p:sldId xmlns:r="http://schemas.openxmlformats.org/officeDocument/2006/relationships" id="261" r:id="R976d9ee57dc24178"/>
    <p:sldId xmlns:r="http://schemas.openxmlformats.org/officeDocument/2006/relationships" id="262" r:id="Rd8ee2a9df04e4ed6"/>
    <p:sldId xmlns:r="http://schemas.openxmlformats.org/officeDocument/2006/relationships" id="263" r:id="R8bbc1e88d6af4cd3"/>
    <p:sldId xmlns:r="http://schemas.openxmlformats.org/officeDocument/2006/relationships" id="264" r:id="R9d01ee5759974bb2"/>
    <p:sldId xmlns:r="http://schemas.openxmlformats.org/officeDocument/2006/relationships" id="265" r:id="Raed3cf4b0a62423f"/>
    <p:sldId xmlns:r="http://schemas.openxmlformats.org/officeDocument/2006/relationships" id="266" r:id="Rd91d16def0664041"/>
    <p:sldId xmlns:r="http://schemas.openxmlformats.org/officeDocument/2006/relationships" id="267" r:id="R8e5b4b29859b484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dfa627c8c5a4f34" /><Relationship Type="http://schemas.openxmlformats.org/officeDocument/2006/relationships/slideMaster" Target="/ppt/slideMasters/slideMaster1.xml" Id="R8041378def9f40e6" /><Relationship Type="http://schemas.openxmlformats.org/officeDocument/2006/relationships/notesMaster" Target="/ppt/notesMasters/notesMaster1.xml" Id="R030e20778cc94943" /><Relationship Type="http://schemas.openxmlformats.org/officeDocument/2006/relationships/presProps" Target="/ppt/presProps.xml" Id="R0f5e678ce3d84077" /><Relationship Type="http://schemas.openxmlformats.org/officeDocument/2006/relationships/tableStyles" Target="/ppt/tableStyles.xml" Id="Rae3693dbc4ac40b7" /><Relationship Type="http://schemas.openxmlformats.org/officeDocument/2006/relationships/slide" Target="/ppt/slides/slide1.xml" Id="Rda6f5a5cc7a249d4" /><Relationship Type="http://schemas.openxmlformats.org/officeDocument/2006/relationships/slide" Target="/ppt/slides/slide2.xml" Id="R88bf81f800d54dc2" /><Relationship Type="http://schemas.openxmlformats.org/officeDocument/2006/relationships/slide" Target="/ppt/slides/slide3.xml" Id="R1e8a79a274344221" /><Relationship Type="http://schemas.openxmlformats.org/officeDocument/2006/relationships/slide" Target="/ppt/slides/slide4.xml" Id="Rfe8b96d743814a3e" /><Relationship Type="http://schemas.openxmlformats.org/officeDocument/2006/relationships/slide" Target="/ppt/slides/slide5.xml" Id="R90aa6cd7d9a44672" /><Relationship Type="http://schemas.openxmlformats.org/officeDocument/2006/relationships/slide" Target="/ppt/slides/slide6.xml" Id="R976d9ee57dc24178" /><Relationship Type="http://schemas.openxmlformats.org/officeDocument/2006/relationships/slide" Target="/ppt/slides/slide7.xml" Id="Rd8ee2a9df04e4ed6" /><Relationship Type="http://schemas.openxmlformats.org/officeDocument/2006/relationships/slide" Target="/ppt/slides/slide8.xml" Id="R8bbc1e88d6af4cd3" /><Relationship Type="http://schemas.openxmlformats.org/officeDocument/2006/relationships/slide" Target="/ppt/slides/slide9.xml" Id="R9d01ee5759974bb2" /><Relationship Type="http://schemas.openxmlformats.org/officeDocument/2006/relationships/slide" Target="/ppt/slides/slide10.xml" Id="Raed3cf4b0a62423f" /><Relationship Type="http://schemas.openxmlformats.org/officeDocument/2006/relationships/slide" Target="/ppt/slides/slide11.xml" Id="Rd91d16def0664041" /><Relationship Type="http://schemas.openxmlformats.org/officeDocument/2006/relationships/slide" Target="/ppt/slides/slide12.xml" Id="R8e5b4b29859b48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0e04e1c650141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007bd313334160" /><Relationship Type="http://schemas.openxmlformats.org/officeDocument/2006/relationships/notesMaster" Target="/ppt/notesMasters/notesMaster1.xml" Id="Rd496d511cede40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0a56df515d840b8" /><Relationship Type="http://schemas.openxmlformats.org/officeDocument/2006/relationships/notesMaster" Target="/ppt/notesMasters/notesMaster1.xml" Id="R195cb8b3aa2841b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127af9acd9645a5" /><Relationship Type="http://schemas.openxmlformats.org/officeDocument/2006/relationships/notesMaster" Target="/ppt/notesMasters/notesMaster1.xml" Id="Rc1fe0ae332074ec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b03a9c062f0402b" /><Relationship Type="http://schemas.openxmlformats.org/officeDocument/2006/relationships/notesMaster" Target="/ppt/notesMasters/notesMaster1.xml" Id="R73ee062a70cf481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6de463b34854f85" /><Relationship Type="http://schemas.openxmlformats.org/officeDocument/2006/relationships/notesMaster" Target="/ppt/notesMasters/notesMaster1.xml" Id="Re5e6877d95bd479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5019dcc096a4489" /><Relationship Type="http://schemas.openxmlformats.org/officeDocument/2006/relationships/notesMaster" Target="/ppt/notesMasters/notesMaster1.xml" Id="R19c8d02ed1464c5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cf69e3192eb419e" /><Relationship Type="http://schemas.openxmlformats.org/officeDocument/2006/relationships/notesMaster" Target="/ppt/notesMasters/notesMaster1.xml" Id="R3d683ab929e3495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cbdbe78e22d4c09" /><Relationship Type="http://schemas.openxmlformats.org/officeDocument/2006/relationships/notesMaster" Target="/ppt/notesMasters/notesMaster1.xml" Id="R8e057113f8434b7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4ec67b25ff14599" /><Relationship Type="http://schemas.openxmlformats.org/officeDocument/2006/relationships/notesMaster" Target="/ppt/notesMasters/notesMaster1.xml" Id="R0177f4558ec743c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44f82b20c974b94" /><Relationship Type="http://schemas.openxmlformats.org/officeDocument/2006/relationships/notesMaster" Target="/ppt/notesMasters/notesMaster1.xml" Id="R4587f6f90c1d4eb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151c7f6977746a2" /><Relationship Type="http://schemas.openxmlformats.org/officeDocument/2006/relationships/notesMaster" Target="/ppt/notesMasters/notesMaster1.xml" Id="R3844d74e87f2497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fbb4b5ce10e4dfa" /><Relationship Type="http://schemas.openxmlformats.org/officeDocument/2006/relationships/notesMaster" Target="/ppt/notesMasters/notesMaster1.xml" Id="R5080120da2a0486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docs/tv3_report.md, docs/tv3_acceptance.md. Bản thảo phần ứng dụng và đánh giá. Nhóm còn phải gán nhãn, cập nhật kết quả thực nghiệm và hợp nhất phần TV1/TV2.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Task_final_Postgre.docx, phần TV3; docs/tv3_report.md. Mục tiêu nhóm là 100–200 tài liệu và ít nhất 20 query có nhãn.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app/main.py, app/search_service.py, smartdoc/ingestion.py, smartdoc/retrieval_engine.py. UI không chứa SQL trực tiếp. Document ID là khóa nối metadata với ranking.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kiểm tra PostgreSQL thật ngày 10/10/2026 do tác vụ gốc thực hiện; docs/tv3_acceptance.md. Original source files chưa được chuyển đủ, không tuyên bố xác minh byte toàn corpus.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smartdoc/preprocessing.py, smartdoc/tfidf_engine.py. Mặc định stopword removal tắt. Cần ghép ví dụ tính tay do TV2 kiểm chứng vào báo cáo chung.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live smoke ngày 10/10/2026 của tác vụ gốc. Query Xe điện: doc18 rank1 score0.7046896896391204, query token xe_điện, tổng contribution bằng score. Đây là ví dụ chức năng, chưa là nhãn relevance hoặc kết quả P@5.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app/main.py và docs/tv3_ui_pro_v2.md. Ảnh giao diện, nếu có, là từ trình duyệt thật. Favorites và lịch sử theo phiên. TXT download xuất raw_text UTF-8, không phải file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app/search_service.py, smartdoc/index_manager.py, tests/test_tv3_search_service.py. Luồng UI dùng khóa dùng chung, kiểm tra lại snapshot. Không tuyên bố khóa được writer ngoài tiến trình.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evaluation/README.md, evaluation/protocol.json, evaluation/evaluation_queries.csv, evaluation/relevance_judgments.csv. 25 queries draft và 500 cặp nhãn trống. Pool hợp Top-20 thật và seed IDs, chỉ trình bày ID đã sắp. Người gán đọc độc lập với cosine/rank, reviewer rà soát. Mặc định một assessor, có tùy chọn hai. Mọi actual top20 phải có nhãn trước tính metric. Không tuyên bố recall/toàn corpus relevance.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evaluation.py, scripts/evaluate_retrieval.py. CLI hiện dùng MRR@20. Snapshot mode đọc JSON per request không đo PostgreSQL. API chưa gồm UI/lấy metadata/nội dung. Chưa có nhãn thật nên chưa công bố metric.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reports/tv3_integration.json, reports/tv3_database_tests.json và output tác vụ gốc ngày 10/10/2026. Toàn repo qua python -m scripts.test_tv3_isolated_database --all-tests: 147 passed,20 subtests passed in11.48s. Corpus demo trước/sau200ready revision235. Nhóm DB5tests riêng PASS, gồm ingestion/recovery/upload TXT/PDF, duplicate/failed. Fixture UI/evaluation không chứng minh nhãn relevance thật. verify_tv3 đối chiếu exhaustive cosine, rawtext, postings và service object reload.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docs/tv3_acceptance.md, docs/tv3_report.md, docs/tv3_demo.md. Đây là bản thảo. Nhóm còn cần nhãn độc lập, chạy metric thật, ghép báo cáo TV1/TV2, xác nhận feed và luyện demo.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283b53cf92478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27a0a01751473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dc5bcb8ab94e7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daf4bdb0014b0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b31eac9e6e4b0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fb4be35dad436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E6ED31E-373A-4D7E-BF1D-34CF55637B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F5058BB-88C9-4046-B97F-78A43E278C7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4E21D30-EA1B-4855-B545-2EE42C10A5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D01B245-B05E-40AD-9DDA-F7F395F775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AB007ED-19F9-4232-B372-11A312475E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950806D-64FC-4879-A299-DC070441C7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3B82BDE-9113-4855-8600-1AAC05D439B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5209E60-F37C-4981-A500-1710D6DFEBF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5003043-2A77-464E-BF0F-50509F94CA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0D4ECF4-5801-46B9-AC7D-C7C20489A7C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b6213558514d97" /><Relationship Type="http://schemas.openxmlformats.org/officeDocument/2006/relationships/slideLayout" Target="/ppt/slideLayouts/slideLayout1.xml" Id="R64e709194db04acd" /><Relationship Type="http://schemas.openxmlformats.org/officeDocument/2006/relationships/slideLayout" Target="/ppt/slideLayouts/slideLayout2.xml" Id="R01221ccbbf504c7f" /><Relationship Type="http://schemas.openxmlformats.org/officeDocument/2006/relationships/slideLayout" Target="/ppt/slideLayouts/slideLayout3.xml" Id="R4646b087c0f4441d" /><Relationship Type="http://schemas.openxmlformats.org/officeDocument/2006/relationships/slideLayout" Target="/ppt/slideLayouts/slideLayout4.xml" Id="Rcfa33a5744c84535" /><Relationship Type="http://schemas.openxmlformats.org/officeDocument/2006/relationships/slideLayout" Target="/ppt/slideLayouts/slideLayout5.xml" Id="R5ea47a2a95ad4950" /><Relationship Type="http://schemas.openxmlformats.org/officeDocument/2006/relationships/slideLayout" Target="/ppt/slideLayouts/slideLayout6.xml" Id="Rcc60193cbebe4c9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e709194db04acd"/>
    <p:sldLayoutId xmlns:r="http://schemas.openxmlformats.org/officeDocument/2006/relationships" id="2147483650" r:id="R01221ccbbf504c7f"/>
    <p:sldLayoutId xmlns:r="http://schemas.openxmlformats.org/officeDocument/2006/relationships" id="2147483651" r:id="R4646b087c0f4441d"/>
    <p:sldLayoutId xmlns:r="http://schemas.openxmlformats.org/officeDocument/2006/relationships" id="2147483652" r:id="Rcfa33a5744c84535"/>
    <p:sldLayoutId xmlns:r="http://schemas.openxmlformats.org/officeDocument/2006/relationships" id="2147483653" r:id="R5ea47a2a95ad4950"/>
    <p:sldLayoutId xmlns:r="http://schemas.openxmlformats.org/officeDocument/2006/relationships" id="2147483654" r:id="Rcc60193cbebe4c9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6d948479f94dad" /><Relationship Type="http://schemas.openxmlformats.org/officeDocument/2006/relationships/notesSlide" Target="/ppt/notesSlides/notesSlide1.xml" Id="R8c0a5ecdd7b048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b3a0d469d4490a" /><Relationship Type="http://schemas.openxmlformats.org/officeDocument/2006/relationships/notesSlide" Target="/ppt/notesSlides/notesSlide2.xml" Id="R0187bfc5132745f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0624023d444239" /><Relationship Type="http://schemas.openxmlformats.org/officeDocument/2006/relationships/notesSlide" Target="/ppt/notesSlides/notesSlide3.xml" Id="R32f4ccd204a54d7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c7d44769024969" /><Relationship Type="http://schemas.openxmlformats.org/officeDocument/2006/relationships/notesSlide" Target="/ppt/notesSlides/notesSlide4.xml" Id="R85d01fd32bed4da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694c1615364965" /><Relationship Type="http://schemas.openxmlformats.org/officeDocument/2006/relationships/notesSlide" Target="/ppt/notesSlides/notesSlide5.xml" Id="R1256cef023874d8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75225675784cff" /><Relationship Type="http://schemas.openxmlformats.org/officeDocument/2006/relationships/notesSlide" Target="/ppt/notesSlides/notesSlide6.xml" Id="R02d7fb8290c84b2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9897505c2d4d1a" /><Relationship Type="http://schemas.openxmlformats.org/officeDocument/2006/relationships/notesSlide" Target="/ppt/notesSlides/notesSlide7.xml" Id="R1340779218df43d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0fb08cdefd42c7" /><Relationship Type="http://schemas.openxmlformats.org/officeDocument/2006/relationships/notesSlide" Target="/ppt/notesSlides/notesSlide8.xml" Id="R6dcfab6fc9c44dc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6d907c52eb4108" /><Relationship Type="http://schemas.openxmlformats.org/officeDocument/2006/relationships/notesSlide" Target="/ppt/notesSlides/notesSlide9.xml" Id="R60a09d43f396441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0f35582c3c4c88" /><Relationship Type="http://schemas.openxmlformats.org/officeDocument/2006/relationships/notesSlide" Target="/ppt/notesSlides/notesSlide10.xml" Id="Rd161afcea860402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2242808d664ab4" /><Relationship Type="http://schemas.openxmlformats.org/officeDocument/2006/relationships/notesSlide" Target="/ppt/notesSlides/notesSlide11.xml" Id="Ra04a2b5eb45d4f2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7cf0a5732549a6" /><Relationship Type="http://schemas.openxmlformats.org/officeDocument/2006/relationships/notesSlide" Target="/ppt/notesSlides/notesSlide12.xml" Id="Rf480bf7518024fe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4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D37B1C-67F6-41B8-8FDE-34A99D82B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BACB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BACBD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ACBDD"/>
                </a:solidFill>
                <a:latin typeface="Arial"/>
                <a:ea typeface="Arial"/>
                <a:cs typeface="Arial"/>
              </a:rPr>
              <a:t>01   SmartDoc Search   10/10/2026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DE733A-EA37-400F-98B6-B9BDC7026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SmartDoc Search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CB0966-7630-4C7E-B450-F671E8AEC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D8E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0">
                <a:solidFill>
                  <a:srgbClr val="D8E8FF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D8E8FF"/>
                </a:solidFill>
                <a:latin typeface="Arial"/>
                <a:ea typeface="Arial"/>
                <a:cs typeface="Arial"/>
              </a:rPr>
              <a:t>Truy xuất tài liệu tiếng Việt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A23824-1C45-492C-BE04-F3CA780E8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62325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D8E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D8E8F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D8E8FF"/>
                </a:solidFill>
                <a:latin typeface="Arial"/>
                <a:ea typeface="Arial"/>
                <a:cs typeface="Arial"/>
              </a:rPr>
              <a:t>TF-IDF và cosine similarity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20DFCA-0F82-45A8-97C6-49B4124F3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BACB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BACBD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ACBDD"/>
                </a:solidFill>
                <a:latin typeface="Arial"/>
                <a:ea typeface="Arial"/>
                <a:cs typeface="Arial"/>
              </a:rPr>
              <a:t>Ứng dụng và đánh giá</a:t>
            </a:r>
          </a:p>
          <a:p xmlns:a="http://schemas.openxmlformats.org/drawingml/2006/main">
            <a:pPr>
              <a:defRPr sz="1950" b="0">
                <a:solidFill>
                  <a:srgbClr val="BACBD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ACBDD"/>
                </a:solidFill>
                <a:latin typeface="Arial"/>
                <a:ea typeface="Arial"/>
                <a:cs typeface="Arial"/>
              </a:rPr>
              <a:t>Bản thảo nghiệm thu</a:t>
            </a:r>
          </a:p>
        </p:txBody>
      </p:sp>
    </p:spTree>
    <p:extLst>
      <p:ext uri="{BB962C8B-B14F-4D97-AF65-F5344CB8AC3E}">
        <p14:creationId xmlns:p14="http://schemas.microsoft.com/office/powerpoint/2010/main" val="17100873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E08B68-A0F3-4C33-878D-F4DE03D05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024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0243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43B"/>
                </a:solidFill>
                <a:latin typeface="Arial"/>
                <a:ea typeface="Arial"/>
                <a:cs typeface="Arial"/>
              </a:rPr>
              <a:t>Phạm vi và trách nhiệm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DF58B0-1458-4E06-A643-87285A305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02   SmartDoc Search   10/10/2026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F97225-753F-4D8D-B575-CC41A39E0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518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67D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467D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67D2"/>
                </a:solidFill>
                <a:latin typeface="Arial"/>
                <a:ea typeface="Arial"/>
                <a:cs typeface="Arial"/>
              </a:rPr>
              <a:t>Phạm vi hệ thống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9B301A-2D4D-4EAC-8F98-DB4F20975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51816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024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024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43B"/>
                </a:solidFill>
                <a:latin typeface="Arial"/>
                <a:ea typeface="Arial"/>
                <a:cs typeface="Arial"/>
              </a:rPr>
              <a:t>TXT và PDF có lớp văn bản tiếng Việt</a:t>
            </a:r>
          </a:p>
          <a:p xmlns:a="http://schemas.openxmlformats.org/drawingml/2006/main">
            <a:pPr>
              <a:defRPr sz="2100" b="0">
                <a:solidFill>
                  <a:srgbClr val="1024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43B"/>
                </a:solidFill>
                <a:latin typeface="Arial"/>
                <a:ea typeface="Arial"/>
                <a:cs typeface="Arial"/>
              </a:rPr>
              <a:t>PostgreSQL lưu metadata và văn bản</a:t>
            </a:r>
          </a:p>
          <a:p xmlns:a="http://schemas.openxmlformats.org/drawingml/2006/main">
            <a:pPr>
              <a:defRPr sz="2100" b="0">
                <a:solidFill>
                  <a:srgbClr val="1024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43B"/>
                </a:solidFill>
                <a:latin typeface="Arial"/>
                <a:ea typeface="Arial"/>
                <a:cs typeface="Arial"/>
              </a:rPr>
              <a:t>TF-IDF, chỉ mục đảo, cosine và Top-K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92B051-FACA-4ADE-92D2-502CAD2EA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19250"/>
            <a:ext cx="518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67D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467D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67D2"/>
                </a:solidFill>
                <a:latin typeface="Arial"/>
                <a:ea typeface="Arial"/>
                <a:cs typeface="Arial"/>
              </a:rPr>
              <a:t>Phần thành viên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57873C-0502-466A-8F8C-2CF3DB116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71700"/>
            <a:ext cx="51816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024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024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43B"/>
                </a:solidFill>
                <a:latin typeface="Arial"/>
                <a:ea typeface="Arial"/>
                <a:cs typeface="Arial"/>
              </a:rPr>
              <a:t>Giao diện Streamlit và tích hợp dịch vụ</a:t>
            </a:r>
          </a:p>
          <a:p xmlns:a="http://schemas.openxmlformats.org/drawingml/2006/main">
            <a:pPr>
              <a:defRPr sz="2100" b="0">
                <a:solidFill>
                  <a:srgbClr val="1024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43B"/>
                </a:solidFill>
                <a:latin typeface="Arial"/>
                <a:ea typeface="Arial"/>
                <a:cs typeface="Arial"/>
              </a:rPr>
              <a:t>Bộ query, nhãn và công cụ đánh giá</a:t>
            </a:r>
          </a:p>
          <a:p xmlns:a="http://schemas.openxmlformats.org/drawingml/2006/main">
            <a:pPr>
              <a:defRPr sz="2100" b="0">
                <a:solidFill>
                  <a:srgbClr val="1024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43B"/>
                </a:solidFill>
                <a:latin typeface="Arial"/>
                <a:ea typeface="Arial"/>
                <a:cs typeface="Arial"/>
              </a:rPr>
              <a:t>Kiểm thử, tài liệu và kịch bản demo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41F5F9-D5A2-4C7C-BAB8-FFDD15E68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53025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OCR, chatbot và embedding nằm ngoài phạm vi lõi</a:t>
            </a:r>
          </a:p>
        </p:txBody>
      </p:sp>
    </p:spTree>
    <p:extLst>
      <p:ext uri="{BB962C8B-B14F-4D97-AF65-F5344CB8AC3E}">
        <p14:creationId xmlns:p14="http://schemas.microsoft.com/office/powerpoint/2010/main" val="19747969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8D0D49-87CD-47AD-B97D-CE9918A6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024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0243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43B"/>
                </a:solidFill>
                <a:latin typeface="Arial"/>
                <a:ea typeface="Arial"/>
                <a:cs typeface="Arial"/>
              </a:rPr>
              <a:t>Kiến trúc tích hợp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B9D837-667B-4014-92A8-0C90E5CC1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03   SmartDoc Search   10/10/2026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98852D-3EC9-401C-8ED4-5974ABC17ED3}"/>
              </a:ext>
            </a:extLst>
          </p:cNvPr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108204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8248650"/>
              </a:tblGrid>
              <a:tr h="5524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Lớp</a:t>
                      </a:r>
                    </a:p>
                  </a:txBody>
                  <a:tcPr marL="91440" marR="91440" marT="45720" marB="45720">
                    <a:solidFill>
                      <a:srgbClr val="10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Dịch vụ và dữ liệu</a:t>
                      </a:r>
                    </a:p>
                  </a:txBody>
                  <a:tcPr marL="91440" marR="91440" marT="45720" marB="45720">
                    <a:solidFill>
                      <a:srgbClr val="10243B"/>
                    </a:solidFill>
                  </a:tcPr>
                </a:tc>
              </a:tr>
              <a:tr h="76676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43B"/>
                          </a:solidFill>
                          <a:latin typeface="Arial"/>
                          <a:ea typeface="Arial"/>
                          <a:cs typeface="Arial"/>
                        </a:rPr>
                        <a:t>Ứng dụng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43B"/>
                          </a:solidFill>
                          <a:latin typeface="Arial"/>
                          <a:ea typeface="Arial"/>
                          <a:cs typeface="Arial"/>
                        </a:rPr>
                        <a:t>Streamlit, reader, upload, danh mục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676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43B"/>
                          </a:solidFill>
                          <a:latin typeface="Arial"/>
                          <a:ea typeface="Arial"/>
                          <a:cs typeface="Arial"/>
                        </a:rPr>
                        <a:t>Tích hợp</a:t>
                      </a:r>
                    </a:p>
                  </a:txBody>
                  <a:tcPr marL="91440" marR="91440" marT="45720" marB="45720"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43B"/>
                          </a:solidFill>
                          <a:latin typeface="Arial"/>
                          <a:ea typeface="Arial"/>
                          <a:cs typeface="Arial"/>
                        </a:rPr>
                        <a:t>SearchService: trạng thái, query, rebuild, explain</a:t>
                      </a:r>
                    </a:p>
                  </a:txBody>
                  <a:tcPr marL="91440" marR="91440" marT="45720" marB="45720">
                    <a:solidFill>
                      <a:srgbClr val="EFF5FC"/>
                    </a:solidFill>
                  </a:tcPr>
                </a:tc>
              </a:tr>
              <a:tr h="76676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43B"/>
                          </a:solidFill>
                          <a:latin typeface="Arial"/>
                          <a:ea typeface="Arial"/>
                          <a:cs typeface="Arial"/>
                        </a:rPr>
                        <a:t>Truy xuất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43B"/>
                          </a:solidFill>
                          <a:latin typeface="Arial"/>
                          <a:ea typeface="Arial"/>
                          <a:cs typeface="Arial"/>
                        </a:rPr>
                        <a:t>Vectorizer, ma trận TF-IDF, postings, Top-K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676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43B"/>
                          </a:solidFill>
                          <a:latin typeface="Arial"/>
                          <a:ea typeface="Arial"/>
                          <a:cs typeface="Arial"/>
                        </a:rPr>
                        <a:t>Lưu trữ</a:t>
                      </a:r>
                    </a:p>
                  </a:txBody>
                  <a:tcPr marL="91440" marR="91440" marT="45720" marB="45720"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43B"/>
                          </a:solidFill>
                          <a:latin typeface="Arial"/>
                          <a:ea typeface="Arial"/>
                          <a:cs typeface="Arial"/>
                        </a:rPr>
                        <a:t>PostgreSQL, storage adapter, snapshot và revision</a:t>
                      </a:r>
                    </a:p>
                  </a:txBody>
                  <a:tcPr marL="91440" marR="91440" marT="45720" marB="45720">
                    <a:solidFill>
                      <a:srgbClr val="EFF5FC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A6FB4B-F0F5-474E-A9C4-25A38F7D9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467D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467D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467D2"/>
                </a:solidFill>
                <a:latin typeface="Arial"/>
                <a:ea typeface="Arial"/>
                <a:cs typeface="Arial"/>
              </a:rPr>
              <a:t>Kết quả engine nối metadata và nội dung bằng document ID</a:t>
            </a:r>
          </a:p>
        </p:txBody>
      </p:sp>
    </p:spTree>
    <p:extLst>
      <p:ext uri="{BB962C8B-B14F-4D97-AF65-F5344CB8AC3E}">
        <p14:creationId xmlns:p14="http://schemas.microsoft.com/office/powerpoint/2010/main" val="4443300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D3CC2B-7FE0-4031-B6FC-C16BEFE1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024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0243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43B"/>
                </a:solidFill>
                <a:latin typeface="Arial"/>
                <a:ea typeface="Arial"/>
                <a:cs typeface="Arial"/>
              </a:rPr>
              <a:t>Corpus và khả năng đọc dữ liệu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4E16E6-9F98-4746-B544-048B280EF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04   SmartDoc Search   10/10/2026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5A0AAF-755C-476B-BF71-7D5C23E83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191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7200" b="1">
                <a:solidFill>
                  <a:srgbClr val="2467D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200" b="1">
                <a:solidFill>
                  <a:srgbClr val="2467D2"/>
                </a:solidFill>
                <a:latin typeface="Arial"/>
                <a:ea typeface="Arial"/>
                <a:cs typeface="Arial"/>
              </a:defRPr>
            </a:pPr>
            <a:r>
              <a:rPr sz="7200" b="1">
                <a:solidFill>
                  <a:srgbClr val="2467D2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ED9362-A7A4-47AC-A430-7FA59FD10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419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024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0243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43B"/>
                </a:solidFill>
                <a:latin typeface="Arial"/>
                <a:ea typeface="Arial"/>
                <a:cs typeface="Arial"/>
              </a:rPr>
              <a:t>tài liệu ready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E35E1A-AC3D-48D4-8078-2BEF301D9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09750"/>
            <a:ext cx="5181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024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024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43B"/>
                </a:solidFill>
                <a:latin typeface="Arial"/>
                <a:ea typeface="Arial"/>
                <a:cs typeface="Arial"/>
              </a:rPr>
              <a:t>Revision 235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4C3CCA-B265-47EE-A3E0-EB3FB2DBE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05100"/>
            <a:ext cx="51816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PostgreSQL healthy</a:t>
            </a:r>
          </a:p>
          <a:p xmlns:a="http://schemas.openxmlformats.org/drawingml/2006/main">
            <a:pPr>
              <a:defRPr sz="21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Văn bản thật đọc được từ DB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46BA30-BFA5-4BA3-A4BC-1B90AAA06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48175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4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43B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0243B"/>
                </a:solidFill>
                <a:latin typeface="Arial"/>
                <a:ea typeface="Arial"/>
                <a:cs typeface="Arial"/>
              </a:rPr>
              <a:t>Dump có metadata và text. Tệp nguồn cần chuyển storage riêng.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31FA57-A853-457B-BB0C-E9D26584F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A85A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A85A0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85A08"/>
                </a:solidFill>
                <a:latin typeface="Arial"/>
                <a:ea typeface="Arial"/>
                <a:cs typeface="Arial"/>
              </a:rPr>
              <a:t>Yêu cầu “feed” còn chờ giảng viên xác nhận</a:t>
            </a:r>
          </a:p>
        </p:txBody>
      </p:sp>
    </p:spTree>
    <p:extLst>
      <p:ext uri="{BB962C8B-B14F-4D97-AF65-F5344CB8AC3E}">
        <p14:creationId xmlns:p14="http://schemas.microsoft.com/office/powerpoint/2010/main" val="16512530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50C19D-BCFA-4EED-A259-74B856378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024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0243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43B"/>
                </a:solidFill>
                <a:latin typeface="Arial"/>
                <a:ea typeface="Arial"/>
                <a:cs typeface="Arial"/>
              </a:rPr>
              <a:t>Tiền xử lý và TF-IDF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137567-68D9-4C1E-8748-9A2F5B9D6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05   SmartDoc Search   10/10/2026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C46E5A-2329-4EFB-AFB1-07586543D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52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1024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0243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243B"/>
                </a:solidFill>
                <a:latin typeface="Arial"/>
                <a:ea typeface="Arial"/>
                <a:cs typeface="Arial"/>
              </a:rPr>
              <a:t>NFC, chữ thường, tách từ tiếng Việt và giữ dấu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2AE7E5-A054-4E3C-89F7-96650EC67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Token từ ghép dùng gạch dưới. Query dùng cùng pipeline tài liệu.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6B380B-6AB4-4000-9ED7-B481BA91E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67D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2467D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467D2"/>
                </a:solidFill>
                <a:latin typeface="Arial"/>
                <a:ea typeface="Arial"/>
                <a:cs typeface="Arial"/>
              </a:rPr>
              <a:t>idf(t) = log((1 + N) / (1 + df(t))) + 1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72F242-A282-49B9-9B45-E05910D29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24325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4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43B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0243B"/>
                </a:solidFill>
                <a:latin typeface="Arial"/>
                <a:ea typeface="Arial"/>
                <a:cs typeface="Arial"/>
              </a:rPr>
              <a:t>w(t, d) = count(t, d) × idf(t)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06BB97-7951-44A0-B188-ACF43EB8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3975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024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024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0243B"/>
                </a:solidFill>
                <a:latin typeface="Arial"/>
                <a:ea typeface="Arial"/>
                <a:cs typeface="Arial"/>
              </a:rPr>
              <a:t>Vector chuẩn hóa L2. Query transform bằng vectorizer đã fit.</a:t>
            </a:r>
          </a:p>
        </p:txBody>
      </p:sp>
    </p:spTree>
    <p:extLst>
      <p:ext uri="{BB962C8B-B14F-4D97-AF65-F5344CB8AC3E}">
        <p14:creationId xmlns:p14="http://schemas.microsoft.com/office/powerpoint/2010/main" val="4751963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B67F95-4E65-4E04-AAC4-91DDABCE2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024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0243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43B"/>
                </a:solidFill>
                <a:latin typeface="Arial"/>
                <a:ea typeface="Arial"/>
                <a:cs typeface="Arial"/>
              </a:rPr>
              <a:t>Ranking và giải thích trên corpus thật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329F46-7DE3-4116-9CB7-3C33A959B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06   SmartDoc Search   10/10/2026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38963E-19B5-4B6E-945A-4759556F8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144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1024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0243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43B"/>
                </a:solidFill>
                <a:latin typeface="Arial"/>
                <a:ea typeface="Arial"/>
                <a:cs typeface="Arial"/>
              </a:rPr>
              <a:t>Query: “Xe điện”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B0F17E-1FD5-4BAE-90B7-F84E89827932}"/>
              </a:ext>
            </a:extLst>
          </p:cNvPr>
          <p:cNvGraphicFramePr/>
          <p:nvPr/>
        </p:nvGraphicFramePr>
        <p:xfrm>
          <a:off xmlns:a="http://schemas.openxmlformats.org/drawingml/2006/main" x="685800" y="2447925"/>
          <a:ext xmlns:a="http://schemas.openxmlformats.org/drawingml/2006/main" cx="10820400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14875"/>
                <a:gridCol w="6105525"/>
              </a:tblGrid>
              <a:tr h="5524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Đầu ra đã kiểm tra</a:t>
                      </a:r>
                    </a:p>
                  </a:txBody>
                  <a:tcPr marL="91440" marR="91440" marT="45720" marB="45720">
                    <a:solidFill>
                      <a:srgbClr val="10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0243B"/>
                    </a:solidFill>
                  </a:tcPr>
                </a:tc>
              </a:tr>
              <a:tr h="7366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0243B"/>
                          </a:solidFill>
                          <a:latin typeface="Arial"/>
                          <a:ea typeface="Arial"/>
                          <a:cs typeface="Arial"/>
                        </a:rPr>
                        <a:t>Rank và document 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0243B"/>
                          </a:solidFill>
                          <a:latin typeface="Arial"/>
                          <a:ea typeface="Arial"/>
                          <a:cs typeface="Arial"/>
                        </a:rPr>
                        <a:t>Hạng 1, document #18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366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0243B"/>
                          </a:solidFill>
                          <a:latin typeface="Arial"/>
                          <a:ea typeface="Arial"/>
                          <a:cs typeface="Arial"/>
                        </a:rPr>
                        <a:t>Cosine score</a:t>
                      </a:r>
                    </a:p>
                  </a:txBody>
                  <a:tcPr marL="91440" marR="91440" marT="45720" marB="45720"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0243B"/>
                          </a:solidFill>
                          <a:latin typeface="Arial"/>
                          <a:ea typeface="Arial"/>
                          <a:cs typeface="Arial"/>
                        </a:rPr>
                        <a:t>0,704690</a:t>
                      </a:r>
                    </a:p>
                  </a:txBody>
                  <a:tcPr marL="91440" marR="91440" marT="45720" marB="45720">
                    <a:solidFill>
                      <a:srgbClr val="EFF5FC"/>
                    </a:solidFill>
                  </a:tcPr>
                </a:tc>
              </a:tr>
              <a:tr h="7366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0243B"/>
                          </a:solidFill>
                          <a:latin typeface="Arial"/>
                          <a:ea typeface="Arial"/>
                          <a:cs typeface="Arial"/>
                        </a:rPr>
                        <a:t>Token và contribution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0243B"/>
                          </a:solidFill>
                          <a:latin typeface="Arial"/>
                          <a:ea typeface="Arial"/>
                          <a:cs typeface="Arial"/>
                        </a:rPr>
                        <a:t>xe_điện, tổng đóng góp 0,704690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1E5A6A-6644-4AD8-A349-AD62EBA15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Hợp postings chọn ứng viên. Chỉ trả score dương, hòa điểm theo ID.</a:t>
            </a:r>
          </a:p>
        </p:txBody>
      </p:sp>
    </p:spTree>
    <p:extLst>
      <p:ext uri="{BB962C8B-B14F-4D97-AF65-F5344CB8AC3E}">
        <p14:creationId xmlns:p14="http://schemas.microsoft.com/office/powerpoint/2010/main" val="1414939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4252FA-2C2B-4CDE-8DDD-E0E6BB520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024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0243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43B"/>
                </a:solidFill>
                <a:latin typeface="Arial"/>
                <a:ea typeface="Arial"/>
                <a:cs typeface="Arial"/>
              </a:rPr>
              <a:t>Giao diện ứng dụng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D74E01-71F2-4BEF-A19D-51F2AF0F3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07   SmartDoc Search   10/10/2026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3B5CF0-23C4-4926-B09F-FC241083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90675"/>
            <a:ext cx="518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67D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467D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67D2"/>
                </a:solidFill>
                <a:latin typeface="Arial"/>
                <a:ea typeface="Arial"/>
                <a:cs typeface="Arial"/>
              </a:rPr>
              <a:t>Tìm kiếm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93C97C-71FA-4C59-8E70-771FA3C12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51816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024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024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43B"/>
                </a:solidFill>
                <a:latin typeface="Arial"/>
                <a:ea typeface="Arial"/>
                <a:cs typeface="Arial"/>
              </a:rPr>
              <a:t>Top-K 5, 10 hoặc 20</a:t>
            </a:r>
          </a:p>
          <a:p xmlns:a="http://schemas.openxmlformats.org/drawingml/2006/main">
            <a:pPr>
              <a:defRPr sz="2100" b="0">
                <a:solidFill>
                  <a:srgbClr val="1024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43B"/>
                </a:solidFill>
                <a:latin typeface="Arial"/>
                <a:ea typeface="Arial"/>
                <a:cs typeface="Arial"/>
              </a:rPr>
              <a:t>Rank, title, score và nguồn</a:t>
            </a:r>
          </a:p>
          <a:p xmlns:a="http://schemas.openxmlformats.org/drawingml/2006/main">
            <a:pPr>
              <a:defRPr sz="2100" b="0">
                <a:solidFill>
                  <a:srgbClr val="1024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43B"/>
                </a:solidFill>
                <a:latin typeface="Arial"/>
                <a:ea typeface="Arial"/>
                <a:cs typeface="Arial"/>
              </a:rPr>
              <a:t>Reader và giải thích token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267183-493E-440A-93D9-33ED13505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90675"/>
            <a:ext cx="518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67D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467D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67D2"/>
                </a:solidFill>
                <a:latin typeface="Arial"/>
                <a:ea typeface="Arial"/>
                <a:cs typeface="Arial"/>
              </a:rPr>
              <a:t>Duyệt và nhập tài liệu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656838-F1B6-4D74-B9A7-B6C74473D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43125"/>
            <a:ext cx="51816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024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024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43B"/>
                </a:solidFill>
                <a:latin typeface="Arial"/>
                <a:ea typeface="Arial"/>
                <a:cs typeface="Arial"/>
              </a:rPr>
              <a:t>Thư viện lọc và phân trang</a:t>
            </a:r>
          </a:p>
          <a:p xmlns:a="http://schemas.openxmlformats.org/drawingml/2006/main">
            <a:pPr>
              <a:defRPr sz="2100" b="0">
                <a:solidFill>
                  <a:srgbClr val="1024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43B"/>
                </a:solidFill>
                <a:latin typeface="Arial"/>
                <a:ea typeface="Arial"/>
                <a:cs typeface="Arial"/>
              </a:rPr>
              <a:t>TXT/PDF text, tối đa 8 MiB mỗi tệp</a:t>
            </a:r>
          </a:p>
          <a:p xmlns:a="http://schemas.openxmlformats.org/drawingml/2006/main">
            <a:pPr>
              <a:defRPr sz="2100" b="0">
                <a:solidFill>
                  <a:srgbClr val="1024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43B"/>
                </a:solidFill>
                <a:latin typeface="Arial"/>
                <a:ea typeface="Arial"/>
                <a:cs typeface="Arial"/>
              </a:rPr>
              <a:t>Metadata bắt buộc tự sinh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337982-EDD1-45F1-ABB6-E359AC1D3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7207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67D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467D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467D2"/>
                </a:solidFill>
                <a:latin typeface="Arial"/>
                <a:ea typeface="Arial"/>
                <a:cs typeface="Arial"/>
              </a:rPr>
              <a:t>Sáu trang, giao diện sáng/tối, yêu thích theo phiên</a:t>
            </a:r>
          </a:p>
        </p:txBody>
      </p:sp>
    </p:spTree>
    <p:extLst>
      <p:ext uri="{BB962C8B-B14F-4D97-AF65-F5344CB8AC3E}">
        <p14:creationId xmlns:p14="http://schemas.microsoft.com/office/powerpoint/2010/main" val="1228708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065A32-4DC7-44E6-8286-A300EE728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024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0243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43B"/>
                </a:solidFill>
                <a:latin typeface="Arial"/>
                <a:ea typeface="Arial"/>
                <a:cs typeface="Arial"/>
              </a:rPr>
              <a:t>Vòng đời và trạng thái chỉ mục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27CE6B-0226-4D2F-9B27-64D505F74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08   SmartDoc Search   10/10/2026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37EC36-4ED5-4750-BA67-4B597A222815}"/>
              </a:ext>
            </a:extLst>
          </p:cNvPr>
          <p:cNvGraphicFramePr/>
          <p:nvPr/>
        </p:nvGraphicFramePr>
        <p:xfrm>
          <a:off xmlns:a="http://schemas.openxmlformats.org/drawingml/2006/main" x="685800" y="1590675"/>
          <a:ext xmlns:a="http://schemas.openxmlformats.org/drawingml/2006/main" cx="10820400" cy="3629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7105650"/>
              </a:tblGrid>
              <a:tr h="5524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Trạng thái</a:t>
                      </a:r>
                    </a:p>
                  </a:txBody>
                  <a:tcPr marL="91440" marR="91440" marT="45720" marB="45720">
                    <a:solidFill>
                      <a:srgbClr val="10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Hành vi ứng dụng</a:t>
                      </a:r>
                    </a:p>
                  </a:txBody>
                  <a:tcPr marL="91440" marR="91440" marT="45720" marB="45720">
                    <a:solidFill>
                      <a:srgbClr val="10243B"/>
                    </a:solidFill>
                  </a:tcPr>
                </a:tc>
              </a:tr>
              <a:tr h="769144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43B"/>
                          </a:solidFill>
                          <a:latin typeface="Arial"/>
                          <a:ea typeface="Arial"/>
                          <a:cs typeface="Arial"/>
                        </a:rPr>
                        <a:t>Đồng bộ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43B"/>
                          </a:solidFill>
                          <a:latin typeface="Arial"/>
                          <a:ea typeface="Arial"/>
                          <a:cs typeface="Arial"/>
                        </a:rPr>
                        <a:t>Cho tìm kiếm và xem giải thích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9144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43B"/>
                          </a:solidFill>
                          <a:latin typeface="Arial"/>
                          <a:ea typeface="Arial"/>
                          <a:cs typeface="Arial"/>
                        </a:rPr>
                        <a:t>Chưa có hoặc index lỗi</a:t>
                      </a:r>
                    </a:p>
                  </a:txBody>
                  <a:tcPr marL="91440" marR="91440" marT="45720" marB="45720"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43B"/>
                          </a:solidFill>
                          <a:latin typeface="Arial"/>
                          <a:ea typeface="Arial"/>
                          <a:cs typeface="Arial"/>
                        </a:rPr>
                        <a:t>Báo lỗi, cho xây lại</a:t>
                      </a:r>
                    </a:p>
                  </a:txBody>
                  <a:tcPr marL="91440" marR="91440" marT="45720" marB="45720">
                    <a:solidFill>
                      <a:srgbClr val="EFF5FC"/>
                    </a:solidFill>
                  </a:tcPr>
                </a:tc>
              </a:tr>
              <a:tr h="769144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43B"/>
                          </a:solidFill>
                          <a:latin typeface="Arial"/>
                          <a:ea typeface="Arial"/>
                          <a:cs typeface="Arial"/>
                        </a:rPr>
                        <a:t>Corpus hoặc pipeline đổi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43B"/>
                          </a:solidFill>
                          <a:latin typeface="Arial"/>
                          <a:ea typeface="Arial"/>
                          <a:cs typeface="Arial"/>
                        </a:rPr>
                        <a:t>Chặn bộ stale, yêu cầu rebuild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9144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43B"/>
                          </a:solidFill>
                          <a:latin typeface="Arial"/>
                          <a:ea typeface="Arial"/>
                          <a:cs typeface="Arial"/>
                        </a:rPr>
                        <a:t>Rebuild thất bại</a:t>
                      </a:r>
                    </a:p>
                  </a:txBody>
                  <a:tcPr marL="91440" marR="91440" marT="45720" marB="45720"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43B"/>
                          </a:solidFill>
                          <a:latin typeface="Arial"/>
                          <a:ea typeface="Arial"/>
                          <a:cs typeface="Arial"/>
                        </a:rPr>
                        <a:t>Giữ thông báo lỗi và cho thử lại</a:t>
                      </a:r>
                    </a:p>
                  </a:txBody>
                  <a:tcPr marL="91440" marR="91440" marT="45720" marB="45720">
                    <a:solidFill>
                      <a:srgbClr val="EFF5FC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09F72C-B053-479D-A095-C7437901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Chỉ kích hoạt bộ mới sau kiểm tra. Ca thay corpus chạy trên DB thử.</a:t>
            </a:r>
          </a:p>
        </p:txBody>
      </p:sp>
    </p:spTree>
    <p:extLst>
      <p:ext uri="{BB962C8B-B14F-4D97-AF65-F5344CB8AC3E}">
        <p14:creationId xmlns:p14="http://schemas.microsoft.com/office/powerpoint/2010/main" val="140171820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FCAAC5-5E1C-4754-A3E9-8F426F92A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024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0243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43B"/>
                </a:solidFill>
                <a:latin typeface="Arial"/>
                <a:ea typeface="Arial"/>
                <a:cs typeface="Arial"/>
              </a:rPr>
              <a:t>Thiết kế bộ đánh giá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9047E6-0525-46C5-92B7-BB4128687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09   SmartDoc Search   10/10/2026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1A6794-1FFC-43BF-8745-2F8BF94A7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467D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2467D2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467D2"/>
                </a:solidFill>
                <a:latin typeface="Arial"/>
                <a:ea typeface="Arial"/>
                <a:cs typeface="Arial"/>
              </a:rPr>
              <a:t>25 query nháp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D6B8E7-78E3-4802-8A2E-CC4A6E813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024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0243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43B"/>
                </a:solidFill>
                <a:latin typeface="Arial"/>
                <a:ea typeface="Arial"/>
                <a:cs typeface="Arial"/>
              </a:rPr>
              <a:t>500 cặp trong pool Top-20 và seed đang để trống nhãn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CCB4A1-AD28-4AFA-BF92-BA4CE55F3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4725"/>
            <a:ext cx="108204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024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024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43B"/>
                </a:solidFill>
                <a:latin typeface="Arial"/>
                <a:ea typeface="Arial"/>
                <a:cs typeface="Arial"/>
              </a:rPr>
              <a:t>Người gán đọc nội dung, không xem score hoặc rank</a:t>
            </a:r>
          </a:p>
          <a:p xmlns:a="http://schemas.openxmlformats.org/drawingml/2006/main">
            <a:pPr>
              <a:defRPr sz="2250" b="0">
                <a:solidFill>
                  <a:srgbClr val="1024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43B"/>
                </a:solidFill>
                <a:latin typeface="Arial"/>
                <a:ea typeface="Arial"/>
                <a:cs typeface="Arial"/>
              </a:rPr>
              <a:t>Người duyệt rà soát query và nhãn</a:t>
            </a:r>
          </a:p>
          <a:p xmlns:a="http://schemas.openxmlformats.org/drawingml/2006/main">
            <a:pPr>
              <a:defRPr sz="2250" b="0">
                <a:solidFill>
                  <a:srgbClr val="1024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43B"/>
                </a:solidFill>
                <a:latin typeface="Arial"/>
                <a:ea typeface="Arial"/>
                <a:cs typeface="Arial"/>
              </a:rPr>
              <a:t>Giữ corpus, revision và fingerprint cố định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C4D30A-F759-4832-AECC-914663342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A85A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A85A0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A85A08"/>
                </a:solidFill>
                <a:latin typeface="Arial"/>
                <a:ea typeface="Arial"/>
                <a:cs typeface="Arial"/>
              </a:rPr>
              <a:t>Nhóm cần duyệt ít nhất 20 query trước khi chạy metric</a:t>
            </a:r>
          </a:p>
        </p:txBody>
      </p:sp>
    </p:spTree>
    <p:extLst>
      <p:ext uri="{BB962C8B-B14F-4D97-AF65-F5344CB8AC3E}">
        <p14:creationId xmlns:p14="http://schemas.microsoft.com/office/powerpoint/2010/main" val="1450049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A7C892-A039-447F-B8C1-14FD9A468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024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0243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43B"/>
                </a:solidFill>
                <a:latin typeface="Arial"/>
                <a:ea typeface="Arial"/>
                <a:cs typeface="Arial"/>
              </a:rPr>
              <a:t>Metric và phạm vi đo thời gian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EF7379-FB0A-4129-A48C-A205C451E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10   SmartDoc Search   10/10/2026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618D45-572D-462E-8F88-D9D4CE961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14475"/>
            <a:ext cx="108204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925" b="1">
                <a:solidFill>
                  <a:srgbClr val="2467D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2467D2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2467D2"/>
                </a:solidFill>
                <a:latin typeface="Arial"/>
                <a:ea typeface="Arial"/>
                <a:cs typeface="Arial"/>
              </a:rPr>
              <a:t>P@5 = relevant trong 5 vị trí đầu /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C1EF0E-85C0-4E8F-860E-D98863C3F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4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43B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0243B"/>
                </a:solidFill>
                <a:latin typeface="Arial"/>
                <a:ea typeface="Arial"/>
                <a:cs typeface="Arial"/>
              </a:rPr>
              <a:t>MRR@20 dùng relevant đầu tiên trong top 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EB6795-5BA3-46EF-9BB2-21EC64B23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108204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API latency: tiền xử lý, snapshot và nạp/kiểm tra index</a:t>
            </a:r>
          </a:p>
          <a:p xmlns:a="http://schemas.openxmlformats.org/drawingml/2006/main">
            <a:pPr>
              <a:defRPr sz="210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Search core: engine và query đã nạp, đã xử lý</a:t>
            </a:r>
          </a:p>
          <a:p xmlns:a="http://schemas.openxmlformats.org/drawingml/2006/main">
            <a:pPr>
              <a:defRPr sz="210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Build, load và warmup được ghi riêng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26CE74-AF7A-4564-8D1C-A7EFB6BD0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8204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A85A0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A85A0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5A08"/>
                </a:solidFill>
                <a:latin typeface="Arial"/>
                <a:ea typeface="Arial"/>
                <a:cs typeface="Arial"/>
              </a:rPr>
              <a:t>Chưa có Precision@5 hoặc MRR@20 hợp lệ trên corpus thật</a:t>
            </a:r>
          </a:p>
        </p:txBody>
      </p:sp>
    </p:spTree>
    <p:extLst>
      <p:ext uri="{BB962C8B-B14F-4D97-AF65-F5344CB8AC3E}">
        <p14:creationId xmlns:p14="http://schemas.microsoft.com/office/powerpoint/2010/main" val="67098776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8B93A9-F689-4488-AC88-4E239889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024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0243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43B"/>
                </a:solidFill>
                <a:latin typeface="Arial"/>
                <a:ea typeface="Arial"/>
                <a:cs typeface="Arial"/>
              </a:rPr>
              <a:t>Bằng chứng kiểm thử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E1532D-00C2-4E44-B019-13B3AA6C5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11   SmartDoc Search   10/10/2026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FBB58A-C614-4DAF-89FC-4CAB7A24A074}"/>
              </a:ext>
            </a:extLst>
          </p:cNvPr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108204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86250"/>
                <a:gridCol w="6534150"/>
              </a:tblGrid>
              <a:tr h="5524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Lớp kiểm chứng</a:t>
                      </a:r>
                    </a:p>
                  </a:txBody>
                  <a:tcPr marL="91440" marR="91440" marT="45720" marB="45720">
                    <a:solidFill>
                      <a:srgbClr val="10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Bằng chứng ngày 10/10/2026</a:t>
                      </a:r>
                    </a:p>
                  </a:txBody>
                  <a:tcPr marL="91440" marR="91440" marT="45720" marB="45720">
                    <a:solidFill>
                      <a:srgbClr val="10243B"/>
                    </a:solidFill>
                  </a:tcPr>
                </a:tc>
              </a:tr>
              <a:tr h="76676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43B"/>
                          </a:solidFill>
                          <a:latin typeface="Arial"/>
                          <a:ea typeface="Arial"/>
                          <a:cs typeface="Arial"/>
                        </a:rPr>
                        <a:t>Toàn repository trên DB thử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43B"/>
                          </a:solidFill>
                          <a:latin typeface="Arial"/>
                          <a:ea typeface="Arial"/>
                          <a:cs typeface="Arial"/>
                        </a:rPr>
                        <a:t>147 tests, 20 subtests PASS trong 11,48 giây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676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43B"/>
                          </a:solidFill>
                          <a:latin typeface="Arial"/>
                          <a:ea typeface="Arial"/>
                          <a:cs typeface="Arial"/>
                        </a:rPr>
                        <a:t>UI, upload và đánh giá</a:t>
                      </a:r>
                    </a:p>
                  </a:txBody>
                  <a:tcPr marL="91440" marR="91440" marT="45720" marB="45720"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43B"/>
                          </a:solidFill>
                          <a:latin typeface="Arial"/>
                          <a:ea typeface="Arial"/>
                          <a:cs typeface="Arial"/>
                        </a:rPr>
                        <a:t>14 UI, 4 upload, 24 evaluation PASS</a:t>
                      </a:r>
                    </a:p>
                  </a:txBody>
                  <a:tcPr marL="91440" marR="91440" marT="45720" marB="45720">
                    <a:solidFill>
                      <a:srgbClr val="EFF5FC"/>
                    </a:solidFill>
                  </a:tcPr>
                </a:tc>
              </a:tr>
              <a:tr h="76676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43B"/>
                          </a:solidFill>
                          <a:latin typeface="Arial"/>
                          <a:ea typeface="Arial"/>
                          <a:cs typeface="Arial"/>
                        </a:rPr>
                        <a:t>PostgreSQL thử riêng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43B"/>
                          </a:solidFill>
                          <a:latin typeface="Arial"/>
                          <a:ea typeface="Arial"/>
                          <a:cs typeface="Arial"/>
                        </a:rPr>
                        <a:t>5 ingestion/upload/recovery PASS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676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43B"/>
                          </a:solidFill>
                          <a:latin typeface="Arial"/>
                          <a:ea typeface="Arial"/>
                          <a:cs typeface="Arial"/>
                        </a:rPr>
                        <a:t>PostgreSQL thật</a:t>
                      </a:r>
                    </a:p>
                  </a:txBody>
                  <a:tcPr marL="91440" marR="91440" marT="45720" marB="45720"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43B"/>
                          </a:solidFill>
                          <a:latin typeface="Arial"/>
                          <a:ea typeface="Arial"/>
                          <a:cs typeface="Arial"/>
                        </a:rPr>
                        <a:t>Ranking khớp cosine exhaustive, postings đúng</a:t>
                      </a:r>
                    </a:p>
                  </a:txBody>
                  <a:tcPr marL="91440" marR="91440" marT="45720" marB="45720">
                    <a:solidFill>
                      <a:srgbClr val="EFF5FC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A3611D-DBB2-4893-A5B8-9278A52E4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467D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467D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67D2"/>
                </a:solidFill>
                <a:latin typeface="Arial"/>
                <a:ea typeface="Arial"/>
                <a:cs typeface="Arial"/>
              </a:rPr>
              <a:t>Đã xem sáng/tối, reader và giải thích trên trình duyệt thật</a:t>
            </a:r>
          </a:p>
        </p:txBody>
      </p:sp>
    </p:spTree>
    <p:extLst>
      <p:ext uri="{BB962C8B-B14F-4D97-AF65-F5344CB8AC3E}">
        <p14:creationId xmlns:p14="http://schemas.microsoft.com/office/powerpoint/2010/main" val="53733839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4DC2EB-9473-4F23-85B6-9722842E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024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0243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43B"/>
                </a:solidFill>
                <a:latin typeface="Arial"/>
                <a:ea typeface="Arial"/>
                <a:cs typeface="Arial"/>
              </a:rPr>
              <a:t>Việc cần hoàn tất trước nghiệm thu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339F10-4C94-44F1-AD2F-ED80E4577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12   SmartDoc Search   10/10/2026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CE695D-4F83-41C9-BF88-79AA1DC04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2467D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2467D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467D2"/>
                </a:solidFill>
                <a:latin typeface="Arial"/>
                <a:ea typeface="Arial"/>
                <a:cs typeface="Arial"/>
              </a:rPr>
              <a:t>Hoàn thiện nhãn và chạy P@5, MRR@20, latency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FD20E5-E18F-4F97-8DE1-6DB048A4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082040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024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024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43B"/>
                </a:solidFill>
                <a:latin typeface="Arial"/>
                <a:ea typeface="Arial"/>
                <a:cs typeface="Arial"/>
              </a:rPr>
              <a:t>Tổng duyệt upload và restart trên trình duyệt</a:t>
            </a:r>
          </a:p>
          <a:p xmlns:a="http://schemas.openxmlformats.org/drawingml/2006/main">
            <a:pPr>
              <a:defRPr sz="2250" b="0">
                <a:solidFill>
                  <a:srgbClr val="1024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43B"/>
                </a:solidFill>
                <a:latin typeface="Arial"/>
                <a:ea typeface="Arial"/>
                <a:cs typeface="Arial"/>
              </a:rPr>
              <a:t>Bổ sung các ca PDF thực tế trong checklist</a:t>
            </a:r>
          </a:p>
          <a:p xmlns:a="http://schemas.openxmlformats.org/drawingml/2006/main">
            <a:pPr>
              <a:defRPr sz="2250" b="0">
                <a:solidFill>
                  <a:srgbClr val="1024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43B"/>
                </a:solidFill>
                <a:latin typeface="Arial"/>
                <a:ea typeface="Arial"/>
                <a:cs typeface="Arial"/>
              </a:rPr>
              <a:t>Ghép ví dụ tính tay, corpus và phần viết TV1/TV2</a:t>
            </a:r>
          </a:p>
          <a:p xmlns:a="http://schemas.openxmlformats.org/drawingml/2006/main">
            <a:pPr>
              <a:defRPr sz="2250" b="0">
                <a:solidFill>
                  <a:srgbClr val="1024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43B"/>
                </a:solidFill>
                <a:latin typeface="Arial"/>
                <a:ea typeface="Arial"/>
                <a:cs typeface="Arial"/>
              </a:rPr>
              <a:t>Xác nhận “feed” và tổng duyệt 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D1BA51-A809-46C6-A7D0-F3687716C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29275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Mã, tài liệu và script đã có để nhóm tiếp tục nghiệm thu</a:t>
            </a:r>
          </a:p>
        </p:txBody>
      </p:sp>
    </p:spTree>
    <p:extLst>
      <p:ext uri="{BB962C8B-B14F-4D97-AF65-F5344CB8AC3E}">
        <p14:creationId xmlns:p14="http://schemas.microsoft.com/office/powerpoint/2010/main" val="3170982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2026-10-10T15:57:09.8280000Z</dcterms:created>
  <dcterms:modified xsi:type="dcterms:W3CDTF">2026-10-10T15:57:09.8280000Z</dcterms:modified>
</coreProperties>
</file>